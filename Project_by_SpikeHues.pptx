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9" r:id="rId1"/>
  </p:sldMasterIdLst>
  <p:notesMasterIdLst>
    <p:notesMasterId r:id="rId19"/>
  </p:notesMasterIdLst>
  <p:sldIdLst>
    <p:sldId id="256" r:id="rId2"/>
    <p:sldId id="277" r:id="rId3"/>
    <p:sldId id="260" r:id="rId4"/>
    <p:sldId id="279" r:id="rId5"/>
    <p:sldId id="296" r:id="rId6"/>
    <p:sldId id="297" r:id="rId7"/>
    <p:sldId id="295" r:id="rId8"/>
    <p:sldId id="298" r:id="rId9"/>
    <p:sldId id="299" r:id="rId10"/>
    <p:sldId id="280" r:id="rId11"/>
    <p:sldId id="281" r:id="rId12"/>
    <p:sldId id="300" r:id="rId13"/>
    <p:sldId id="282" r:id="rId14"/>
    <p:sldId id="301" r:id="rId15"/>
    <p:sldId id="302" r:id="rId16"/>
    <p:sldId id="293" r:id="rId17"/>
    <p:sldId id="274" r:id="rId18"/>
  </p:sldIdLst>
  <p:sldSz cx="18288000" cy="10287000"/>
  <p:notesSz cx="6858000" cy="9144000"/>
  <p:embeddedFontLst>
    <p:embeddedFont>
      <p:font typeface="Tw Cen MT" pitchFamily="34" charset="0"/>
      <p:regular r:id="rId20"/>
      <p:bold r:id="rId21"/>
      <p:italic r:id="rId22"/>
      <p:boldItalic r:id="rId23"/>
    </p:embeddedFont>
    <p:embeddedFont>
      <p:font typeface="Raleway Black" charset="0"/>
      <p:bold r:id="rId24"/>
      <p:boldItalic r:id="rId25"/>
    </p:embeddedFon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Wingdings 3" pitchFamily="18" charset="2"/>
      <p:regular r:id="rId30"/>
    </p:embeddedFont>
    <p:embeddedFont>
      <p:font typeface="Tw Cen MT Condensed" pitchFamily="34" charset="0"/>
      <p:regular r:id="rId31"/>
      <p:bold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5B195"/>
    <a:srgbClr val="9BC683"/>
    <a:srgbClr val="B68281"/>
    <a:srgbClr val="C49A99"/>
    <a:srgbClr val="0B1E22"/>
    <a:srgbClr val="90413F"/>
    <a:srgbClr val="CC4B55"/>
    <a:srgbClr val="4A5D97"/>
    <a:srgbClr val="5C6CA4"/>
    <a:srgbClr val="63646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681" autoAdjust="0"/>
  </p:normalViewPr>
  <p:slideViewPr>
    <p:cSldViewPr snapToGrid="0">
      <p:cViewPr>
        <p:scale>
          <a:sx n="40" d="100"/>
          <a:sy n="40" d="100"/>
        </p:scale>
        <p:origin x="-1116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33430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0" name="Google Shape;30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700"/>
            </a:lvl4pPr>
            <a:lvl5pPr marL="2743200" indent="0" algn="ctr">
              <a:buNone/>
              <a:defRPr sz="2700"/>
            </a:lvl5pPr>
            <a:lvl6pPr marL="3429000" indent="0" algn="ctr">
              <a:buNone/>
              <a:defRPr sz="2700"/>
            </a:lvl6pPr>
            <a:lvl7pPr marL="4114800" indent="0" algn="ctr">
              <a:buNone/>
              <a:defRPr sz="2700"/>
            </a:lvl7pPr>
            <a:lvl8pPr marL="4800600" indent="0" algn="ctr">
              <a:buNone/>
              <a:defRPr sz="2700"/>
            </a:lvl8pPr>
            <a:lvl9pPr marL="5486400" indent="0" algn="ctr">
              <a:buNone/>
              <a:defRPr sz="27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8288000" cy="6858002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12580263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7582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29911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b="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2"/>
            <a:ext cx="18288000" cy="6858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12580263" y="7896159"/>
            <a:ext cx="0" cy="13716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5535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6191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3980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783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450" b="0" cap="none" baseline="0">
                <a:solidFill>
                  <a:schemeClr val="accent1"/>
                </a:solidFill>
                <a:latin typeface="+mn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619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633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45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27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633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75857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978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8701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36192" y="707264"/>
            <a:ext cx="6583680" cy="260604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0" y="1234440"/>
            <a:ext cx="8517636" cy="77769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6192" y="3386259"/>
            <a:ext cx="6583680" cy="56434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900"/>
              </a:spcBef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9330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7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8283428" cy="6858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5900" y="7440207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05179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8112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2" y="1143000"/>
            <a:ext cx="3943350" cy="81153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901" y="1143000"/>
            <a:ext cx="11372850" cy="8115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5087600" y="88895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78791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3" y="3429000"/>
            <a:ext cx="14580110" cy="60350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6194" y="9706056"/>
            <a:ext cx="3231215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4399" y="9706056"/>
            <a:ext cx="8852189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56000" y="9706056"/>
            <a:ext cx="1460501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30210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sldNum="0" hdr="0" ftr="0" dt="0"/>
  <p:txStyles>
    <p:titleStyle>
      <a:lvl1pPr algn="l" defTabSz="1371600" rtl="0" eaLnBrk="1" latinLnBrk="0" hangingPunct="1">
        <a:lnSpc>
          <a:spcPct val="80000"/>
        </a:lnSpc>
        <a:spcBef>
          <a:spcPct val="0"/>
        </a:spcBef>
        <a:buNone/>
        <a:defRPr sz="7500" kern="1200" cap="all" spc="1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20436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1248230" y="2931513"/>
            <a:ext cx="16087412" cy="1231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Basha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Khujo.com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Google Shape;193;p10"/>
          <p:cNvSpPr txBox="1"/>
          <p:nvPr/>
        </p:nvSpPr>
        <p:spPr>
          <a:xfrm>
            <a:off x="1568325" y="7082953"/>
            <a:ext cx="9005561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Presented </a:t>
            </a:r>
            <a:r>
              <a:rPr kumimoji="0" lang="en-US" sz="36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smtClean="0">
                <a:solidFill>
                  <a:srgbClr val="C00000"/>
                </a:solidFill>
              </a:rPr>
              <a:t>Mr. Md. </a:t>
            </a:r>
            <a:r>
              <a:rPr lang="en-US" sz="4000" b="1" dirty="0" err="1" smtClean="0">
                <a:solidFill>
                  <a:srgbClr val="C00000"/>
                </a:solidFill>
              </a:rPr>
              <a:t>Tamim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r>
              <a:rPr lang="en-US" sz="4000" b="1" dirty="0" err="1" smtClean="0">
                <a:solidFill>
                  <a:srgbClr val="C00000"/>
                </a:solidFill>
              </a:rPr>
              <a:t>Hossain</a:t>
            </a:r>
            <a:endParaRPr lang="en-US" sz="4000" b="1" dirty="0">
              <a:solidFill>
                <a:srgbClr val="C00000"/>
              </a:solidFill>
            </a:endParaRPr>
          </a:p>
          <a:p>
            <a:pPr algn="ctr"/>
            <a:r>
              <a:rPr lang="en-US" sz="3600" dirty="0" smtClean="0">
                <a:solidFill>
                  <a:schemeClr val="bg1">
                    <a:lumMod val="10000"/>
                  </a:schemeClr>
                </a:solidFill>
              </a:rPr>
              <a:t>Lecturer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bg1">
                    <a:lumMod val="10000"/>
                  </a:schemeClr>
                </a:solidFill>
              </a:rPr>
              <a:t>Department of Computer Science &amp; </a:t>
            </a:r>
            <a:r>
              <a:rPr lang="en-US" sz="2800" dirty="0" smtClean="0">
                <a:solidFill>
                  <a:schemeClr val="bg1">
                    <a:lumMod val="10000"/>
                  </a:schemeClr>
                </a:solidFill>
              </a:rPr>
              <a:t>Engineering, PUC.</a:t>
            </a:r>
            <a:endParaRPr lang="en-US" sz="28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" name="Google Shape;193;p10"/>
          <p:cNvSpPr txBox="1"/>
          <p:nvPr/>
        </p:nvSpPr>
        <p:spPr>
          <a:xfrm>
            <a:off x="12896674" y="7090793"/>
            <a:ext cx="5391326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i="1" dirty="0">
                <a:solidFill>
                  <a:srgbClr val="002060"/>
                </a:solidFill>
              </a:rPr>
              <a:t>Presented </a:t>
            </a:r>
            <a:r>
              <a:rPr lang="en-US" sz="2800" i="1" dirty="0" smtClean="0">
                <a:solidFill>
                  <a:srgbClr val="002060"/>
                </a:solidFill>
              </a:rPr>
              <a:t>By </a:t>
            </a:r>
            <a:r>
              <a:rPr lang="en-US" sz="2800" b="1" i="1" dirty="0" smtClean="0">
                <a:solidFill>
                  <a:srgbClr val="002060"/>
                </a:solidFill>
              </a:rPr>
              <a:t>Spike Hues</a:t>
            </a:r>
            <a:endParaRPr lang="en-US" sz="2800" b="1" i="1" dirty="0">
              <a:solidFill>
                <a:srgbClr val="002060"/>
              </a:solidFill>
            </a:endParaRPr>
          </a:p>
          <a:p>
            <a:endParaRPr lang="en-US" sz="4000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Md. </a:t>
            </a:r>
            <a:r>
              <a:rPr lang="en-US" sz="2800" b="1" dirty="0" err="1" smtClean="0">
                <a:solidFill>
                  <a:schemeClr val="bg1">
                    <a:lumMod val="10000"/>
                  </a:schemeClr>
                </a:solidFill>
              </a:rPr>
              <a:t>Mobasser</a:t>
            </a:r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bg1">
                    <a:lumMod val="10000"/>
                  </a:schemeClr>
                </a:solidFill>
              </a:rPr>
              <a:t>Hossen</a:t>
            </a:r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10000"/>
                  </a:schemeClr>
                </a:solidFill>
              </a:rPr>
              <a:t>(2104010202277)</a:t>
            </a:r>
            <a:endParaRPr lang="en-US" sz="24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Mohammad </a:t>
            </a:r>
            <a:r>
              <a:rPr lang="en-US" sz="2800" b="1" dirty="0" err="1" smtClean="0">
                <a:solidFill>
                  <a:schemeClr val="bg1">
                    <a:lumMod val="10000"/>
                  </a:schemeClr>
                </a:solidFill>
              </a:rPr>
              <a:t>Salahuddin</a:t>
            </a:r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10000"/>
                  </a:schemeClr>
                </a:solidFill>
              </a:rPr>
              <a:t>(1903710201916)</a:t>
            </a:r>
            <a:endParaRPr lang="en-US" sz="24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2800" b="1" dirty="0" err="1" smtClean="0">
                <a:solidFill>
                  <a:schemeClr val="bg1">
                    <a:lumMod val="10000"/>
                  </a:schemeClr>
                </a:solidFill>
              </a:rPr>
              <a:t>Istiaque</a:t>
            </a:r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bg1">
                    <a:lumMod val="10000"/>
                  </a:schemeClr>
                </a:solidFill>
              </a:rPr>
              <a:t>Hoosain</a:t>
            </a:r>
            <a:r>
              <a:rPr lang="en-US" sz="2800" b="1" dirty="0" smtClean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10000"/>
                  </a:schemeClr>
                </a:solidFill>
              </a:rPr>
              <a:t>(2104010202280)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7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 txBox="1"/>
          <p:nvPr/>
        </p:nvSpPr>
        <p:spPr>
          <a:xfrm>
            <a:off x="6767992" y="1088571"/>
            <a:ext cx="560432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0" dirty="0">
                <a:solidFill>
                  <a:srgbClr val="DD7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ea typeface="Raleway Black"/>
                <a:cs typeface="Raleway Black"/>
                <a:sym typeface="Raleway Black"/>
              </a:rPr>
              <a:t>Contents</a:t>
            </a:r>
            <a:endParaRPr sz="8000" dirty="0">
              <a:solidFill>
                <a:srgbClr val="DD7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Google Shape;304;p12"/>
          <p:cNvSpPr txBox="1"/>
          <p:nvPr/>
        </p:nvSpPr>
        <p:spPr>
          <a:xfrm>
            <a:off x="2044173" y="3414352"/>
            <a:ext cx="66017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500" b="1" dirty="0" smtClean="0">
                <a:solidFill>
                  <a:schemeClr val="bg1"/>
                </a:solidFill>
              </a:rPr>
              <a:t>Introduction</a:t>
            </a:r>
            <a:endParaRPr lang="en-US" sz="4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313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443;p14"/>
          <p:cNvSpPr txBox="1"/>
          <p:nvPr/>
        </p:nvSpPr>
        <p:spPr>
          <a:xfrm>
            <a:off x="1304474" y="904634"/>
            <a:ext cx="11395526" cy="1384995"/>
          </a:xfrm>
          <a:prstGeom prst="rect">
            <a:avLst/>
          </a:prstGeom>
          <a:solidFill>
            <a:srgbClr val="636463">
              <a:alpha val="20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ea typeface="Raleway Black"/>
                <a:cs typeface="Raleway Black"/>
                <a:sym typeface="Raleway Black"/>
              </a:rPr>
              <a:t>Introduction</a:t>
            </a:r>
            <a:endParaRPr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63592D8-4E41-59F1-C782-6980642AD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000" y="4151086"/>
            <a:ext cx="7902704" cy="6135914"/>
          </a:xfrm>
          <a:prstGeom prst="rect">
            <a:avLst/>
          </a:prstGeom>
        </p:spPr>
      </p:pic>
      <p:sp>
        <p:nvSpPr>
          <p:cNvPr id="5" name="Google Shape;475;p14"/>
          <p:cNvSpPr txBox="1"/>
          <p:nvPr/>
        </p:nvSpPr>
        <p:spPr>
          <a:xfrm>
            <a:off x="1457046" y="3756557"/>
            <a:ext cx="8106954" cy="346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b="1" dirty="0" smtClean="0">
                <a:solidFill>
                  <a:schemeClr val="bg1"/>
                </a:solidFill>
              </a:rPr>
              <a:t>Say hello to. 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4500" b="1" dirty="0" smtClean="0">
                <a:solidFill>
                  <a:schemeClr val="accent4">
                    <a:lumMod val="50000"/>
                  </a:schemeClr>
                </a:solidFill>
              </a:rPr>
              <a:t>				    “ </a:t>
            </a:r>
            <a:r>
              <a:rPr lang="en-US" sz="6600" b="1" dirty="0" err="1" smtClean="0">
                <a:solidFill>
                  <a:srgbClr val="FF0000"/>
                </a:solidFill>
              </a:rPr>
              <a:t>Ghor</a:t>
            </a:r>
            <a:r>
              <a:rPr lang="en-US" sz="6600" b="1" dirty="0" smtClean="0">
                <a:solidFill>
                  <a:srgbClr val="FF0000"/>
                </a:solidFill>
              </a:rPr>
              <a:t> </a:t>
            </a:r>
            <a:r>
              <a:rPr lang="en-US" sz="6600" b="1" dirty="0" smtClean="0">
                <a:solidFill>
                  <a:srgbClr val="FF0000"/>
                </a:solidFill>
              </a:rPr>
              <a:t>lagbe? </a:t>
            </a:r>
            <a:r>
              <a:rPr lang="en-US" sz="4500" b="1" dirty="0" smtClean="0">
                <a:solidFill>
                  <a:schemeClr val="accent4">
                    <a:lumMod val="50000"/>
                  </a:schemeClr>
                </a:solidFill>
              </a:rPr>
              <a:t>”</a:t>
            </a:r>
            <a:endParaRPr lang="en-US" sz="45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Bent-Up Arrow 5"/>
          <p:cNvSpPr/>
          <p:nvPr/>
        </p:nvSpPr>
        <p:spPr>
          <a:xfrm rot="5400000">
            <a:off x="1786483" y="5563690"/>
            <a:ext cx="1083126" cy="13335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8047954" y="3272210"/>
            <a:ext cx="9062156" cy="60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 smtClean="0">
                <a:solidFill>
                  <a:srgbClr val="364B24"/>
                </a:solidFill>
                <a:latin typeface="Arial" pitchFamily="34" charset="0"/>
                <a:cs typeface="Arial" pitchFamily="34" charset="0"/>
              </a:rPr>
              <a:t>Problem Statement: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The process of buying, selling, renting, or financing a home in Bangladesh is traditionally fraught with challenges and complexities, often perceived as integral to the real estate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experience.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Over the years landlords property managers have had a problem in maintaining and managing their customers and their own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records.</a:t>
            </a:r>
            <a:endParaRPr lang="en-US" sz="32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59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 descr="Rentals_LP_Illustrati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919"/>
            <a:ext cx="7475728" cy="42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8047954" y="3272210"/>
            <a:ext cx="9062156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 this context, Our app aims to address these persistent challenges and revolutionize the real estate industry by offering a paradigm shift towards a hassle-free experience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The conventional approach, characterized by a lack of comprehensive services, outdated methodologies, and a dearth of innovative solutions, necessitates urgent intervention.</a:t>
            </a:r>
            <a:endParaRPr lang="en-US" sz="32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 descr="Rentals_LP_Illustrati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919"/>
            <a:ext cx="7475728" cy="42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 descr="Rentals_LP_Illustrati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919"/>
            <a:ext cx="7475728" cy="4205097"/>
          </a:xfrm>
          <a:prstGeom prst="rect">
            <a:avLst/>
          </a:prstGeom>
        </p:spPr>
      </p:pic>
      <p:sp>
        <p:nvSpPr>
          <p:cNvPr id="9" name="Google Shape;887;p20"/>
          <p:cNvSpPr txBox="1"/>
          <p:nvPr/>
        </p:nvSpPr>
        <p:spPr>
          <a:xfrm>
            <a:off x="8047954" y="3272210"/>
            <a:ext cx="9062156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Buyers, sellers, and renters are confronted with difficulties ranging from incomplete information and tedious processes to a lack of digital enablement throughout the </a:t>
            </a:r>
            <a:r>
              <a:rPr lang="en-US" sz="32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journey.</a:t>
            </a:r>
            <a:endParaRPr lang="en-US" sz="32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8047954" y="3272210"/>
            <a:ext cx="9062156" cy="623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 smtClean="0">
                <a:solidFill>
                  <a:srgbClr val="364B24"/>
                </a:solidFill>
              </a:rPr>
              <a:t>Background: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 the realm of Bangladesh real estate, the conventional processes associated with buying, selling, renting, and financing homes are fraught with inefficiencies, complexities, and a lack of seamless integration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Despite the digital advancements in the industry, users navigating through the myriad listings for new homes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resale homes, rental houses, plots, and co-living spaces encounter challenges such as incomplete information, limited virtual experiences, and a lack of personalized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services.</a:t>
            </a:r>
            <a:endParaRPr lang="en-US" sz="26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" name="Picture 9" descr="Ar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8276"/>
            <a:ext cx="7754715" cy="440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8047954" y="3272210"/>
            <a:ext cx="9062156" cy="60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The prevalent mindset in Bangladeshi treats the hassles involved in the real estate process as an inevitable part of the journey, deterring users from embracing a more user-friendly and efficient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approach</a:t>
            </a:r>
            <a:r>
              <a:rPr lang="en-US" sz="2600" b="1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of the journey, deterring users from embracing a more user-friendly and efficient approach. Despite the availability of data, design, and technology, there is a critical gap in the market for a platform that not only offers comprehensive real estate services but also challenges the status quo, motivating users to transition to a hassle-free experience.</a:t>
            </a:r>
            <a:endParaRPr lang="en-US" sz="26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 descr="Ar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0176"/>
            <a:ext cx="7821743" cy="44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8047954" y="3272210"/>
            <a:ext cx="9062156" cy="60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Our company recognizes this fundamental problem and aims to redefine the real estate landscape by addressing these pain points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600" dirty="0" smtClean="0">
                <a:solidFill>
                  <a:schemeClr val="tx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The challenge lies in creating a platform that seamlessly integrates advertising, marketing, personalized search, virtual viewing, rent, home loans, and post-transaction services into a cohesive and intuitive experience. Our goal is to be the first choice for consumers and partners, empowering them in their journey of discovering, renting, buying, selling, and financing a home. </a:t>
            </a:r>
            <a:endParaRPr lang="en-US" sz="2600" b="1" dirty="0">
              <a:solidFill>
                <a:schemeClr val="tx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008994" y="1009651"/>
            <a:ext cx="9062156" cy="1329595"/>
          </a:xfrm>
          <a:prstGeom prst="rect">
            <a:avLst/>
          </a:prstGeom>
          <a:solidFill>
            <a:srgbClr val="0B1E22">
              <a:alpha val="42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200" dirty="0" smtClean="0">
                <a:solidFill>
                  <a:srgbClr val="0D20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sz="7200" dirty="0">
              <a:solidFill>
                <a:srgbClr val="0D20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Picture 7" descr="Ar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9226"/>
            <a:ext cx="7829550" cy="445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199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2000">
              <a:schemeClr val="tx2">
                <a:lumMod val="75000"/>
              </a:schemeClr>
            </a:gs>
            <a:gs pos="86000">
              <a:schemeClr val="accent4">
                <a:lumMod val="89000"/>
              </a:schemeClr>
            </a:gs>
            <a:gs pos="86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1"/>
          <p:cNvSpPr txBox="1"/>
          <p:nvPr/>
        </p:nvSpPr>
        <p:spPr>
          <a:xfrm>
            <a:off x="1028699" y="1009651"/>
            <a:ext cx="10135341" cy="1384995"/>
          </a:xfrm>
          <a:prstGeom prst="rect">
            <a:avLst/>
          </a:prstGeom>
          <a:solidFill>
            <a:srgbClr val="BC906B">
              <a:alpha val="68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500" dirty="0" smtClean="0">
                <a:solidFill>
                  <a:srgbClr val="3541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dirty="0">
              <a:solidFill>
                <a:srgbClr val="3541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68" name="Google Shape;968;p21"/>
          <p:cNvSpPr txBox="1"/>
          <p:nvPr/>
        </p:nvSpPr>
        <p:spPr>
          <a:xfrm>
            <a:off x="683259" y="1702148"/>
            <a:ext cx="9135210" cy="727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742950" indent="-742950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Benefits Of Application:</a:t>
            </a:r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600" b="1" dirty="0" smtClean="0">
              <a:solidFill>
                <a:schemeClr val="bg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User-Friendly Interface and Personalized </a:t>
            </a: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Search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Comprehensive Property </a:t>
            </a: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Listings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Research-Driven Insights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End-to-End Transaction </a:t>
            </a: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Services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Hassle-Free Financing </a:t>
            </a: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Options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Post-Transaction </a:t>
            </a: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Services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Digital Enablement and Innovation</a:t>
            </a:r>
            <a:endParaRPr lang="en-US" sz="29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>
              <a:solidFill>
                <a:schemeClr val="bg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benefitsi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582" y="2780821"/>
            <a:ext cx="6926418" cy="600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909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000">
              <a:srgbClr val="C49A99"/>
            </a:gs>
            <a:gs pos="15000">
              <a:schemeClr val="accent3">
                <a:lumMod val="0"/>
                <a:lumOff val="100000"/>
              </a:schemeClr>
            </a:gs>
            <a:gs pos="100000">
              <a:srgbClr val="B68281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-1" y="0"/>
            <a:ext cx="9168064" cy="10287000"/>
          </a:xfrm>
          <a:prstGeom prst="rect">
            <a:avLst/>
          </a:prstGeom>
          <a:solidFill>
            <a:srgbClr val="90413F">
              <a:alpha val="93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/>
              </a:solidFill>
            </a:endParaRPr>
          </a:p>
          <a:p>
            <a:pPr marL="742950" indent="-742950">
              <a:lnSpc>
                <a:spcPct val="150000"/>
              </a:lnSpc>
            </a:pPr>
            <a:r>
              <a:rPr lang="en-US" sz="36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Purpose: </a:t>
            </a:r>
            <a:r>
              <a:rPr lang="en-US" sz="32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742950" indent="-742950">
              <a:lnSpc>
                <a:spcPct val="150000"/>
              </a:lnSpc>
            </a:pPr>
            <a:r>
              <a:rPr lang="en-US" sz="2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Property Search: 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Users can search for residential or commercial properties based on various criteria such as location, budget, size, amenities, etc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742950" indent="-742950">
              <a:lnSpc>
                <a:spcPct val="150000"/>
              </a:lnSpc>
            </a:pPr>
            <a:r>
              <a:rPr lang="en-US" sz="2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Listing Services: 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Property owners or real estate agents can list their properties on the platform, providing detailed information and images to attract potential buyers or renters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742950" indent="-742950">
              <a:lnSpc>
                <a:spcPct val="150000"/>
              </a:lnSpc>
            </a:pPr>
            <a:r>
              <a:rPr lang="en-US" sz="2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Connect Buyers and Sellers/Renters: 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platform serves as a marketplace where buyers or renters can connect with property owners, developers, or real estate agents</a:t>
            </a:r>
            <a:r>
              <a:rPr lang="en-US" sz="2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600" b="1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>
              <a:solidFill>
                <a:schemeClr val="bg1"/>
              </a:solidFill>
            </a:endParaRPr>
          </a:p>
        </p:txBody>
      </p:sp>
      <p:grpSp>
        <p:nvGrpSpPr>
          <p:cNvPr id="959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20"/>
          <p:cNvSpPr txBox="1"/>
          <p:nvPr/>
        </p:nvSpPr>
        <p:spPr>
          <a:xfrm>
            <a:off x="7827531" y="561477"/>
            <a:ext cx="10460469" cy="1329595"/>
          </a:xfrm>
          <a:prstGeom prst="rect">
            <a:avLst/>
          </a:prstGeom>
          <a:solidFill>
            <a:srgbClr val="90413F">
              <a:alpha val="53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7200" b="1" dirty="0" smtClean="0">
                <a:solidFill>
                  <a:srgbClr val="0B1E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Cont.</a:t>
            </a:r>
            <a:endParaRPr sz="7200" b="1" dirty="0">
              <a:solidFill>
                <a:srgbClr val="0B1E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" name="Picture 50" descr="m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081" y="3729788"/>
            <a:ext cx="9113920" cy="45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93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000">
              <a:srgbClr val="C49A99"/>
            </a:gs>
            <a:gs pos="15000">
              <a:schemeClr val="accent3">
                <a:lumMod val="0"/>
                <a:lumOff val="100000"/>
              </a:schemeClr>
            </a:gs>
            <a:gs pos="100000">
              <a:srgbClr val="B68281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/>
        </p:nvSpPr>
        <p:spPr>
          <a:xfrm>
            <a:off x="-1" y="0"/>
            <a:ext cx="9144001" cy="10287000"/>
          </a:xfrm>
          <a:prstGeom prst="rect">
            <a:avLst/>
          </a:prstGeom>
          <a:solidFill>
            <a:srgbClr val="90413F">
              <a:alpha val="93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 smtClean="0">
              <a:solidFill>
                <a:schemeClr val="bg1"/>
              </a:solidFill>
            </a:endParaRPr>
          </a:p>
          <a:p>
            <a:pPr marL="742950" indent="-742950">
              <a:lnSpc>
                <a:spcPct val="150000"/>
              </a:lnSpc>
            </a:pPr>
            <a:endParaRPr lang="en-US" sz="3600" b="1" dirty="0" smtClean="0">
              <a:solidFill>
                <a:srgbClr val="00B0F0"/>
              </a:solidFill>
              <a:latin typeface="Arial" pitchFamily="34" charset="0"/>
              <a:cs typeface="Arial" pitchFamily="34" charset="0"/>
            </a:endParaRPr>
          </a:p>
          <a:p>
            <a:pPr marL="742950" indent="-742950">
              <a:lnSpc>
                <a:spcPct val="150000"/>
              </a:lnSpc>
            </a:pP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Market Insights: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Some platforms provide market trends, property valuations, and other insights to help users make informed decisions. </a:t>
            </a:r>
            <a:endParaRPr lang="en-US" sz="320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742950" indent="-742950">
              <a:lnSpc>
                <a:spcPct val="150000"/>
              </a:lnSpc>
            </a:pP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Legal </a:t>
            </a: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and Financial Guidance: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Offering information and resources related to legal procedures, documentation, and financial aspects of real estate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transactions.</a:t>
            </a: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742950" indent="-742950">
              <a:lnSpc>
                <a:spcPct val="150000"/>
              </a:lnSpc>
            </a:pPr>
            <a:endParaRPr lang="en-US" sz="3200" b="1" dirty="0" smtClean="0">
              <a:solidFill>
                <a:srgbClr val="00B0F0"/>
              </a:solidFill>
              <a:latin typeface="Arial" pitchFamily="34" charset="0"/>
              <a:cs typeface="Arial" pitchFamily="34" charset="0"/>
            </a:endParaRPr>
          </a:p>
          <a:p>
            <a:pPr marL="571500" indent="-571500">
              <a:lnSpc>
                <a:spcPct val="150000"/>
              </a:lnSpc>
            </a:pPr>
            <a:endParaRPr lang="en-US" sz="3600" b="1" dirty="0">
              <a:solidFill>
                <a:schemeClr val="bg1"/>
              </a:solidFill>
            </a:endParaRPr>
          </a:p>
        </p:txBody>
      </p:sp>
      <p:grpSp>
        <p:nvGrpSpPr>
          <p:cNvPr id="2" name="Google Shape;959;p20"/>
          <p:cNvGrpSpPr/>
          <p:nvPr/>
        </p:nvGrpSpPr>
        <p:grpSpPr>
          <a:xfrm>
            <a:off x="26129315" y="8321492"/>
            <a:ext cx="1149506" cy="1005818"/>
            <a:chOff x="0" y="0"/>
            <a:chExt cx="812800" cy="711200"/>
          </a:xfrm>
        </p:grpSpPr>
        <p:sp>
          <p:nvSpPr>
            <p:cNvPr id="960" name="Google Shape;960;p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C1D"/>
            </a:solidFill>
            <a:ln>
              <a:noFill/>
            </a:ln>
          </p:spPr>
        </p:sp>
        <p:sp>
          <p:nvSpPr>
            <p:cNvPr id="961" name="Google Shape;961;p20"/>
            <p:cNvSpPr txBox="1"/>
            <p:nvPr/>
          </p:nvSpPr>
          <p:spPr>
            <a:xfrm>
              <a:off x="127000" y="254000"/>
              <a:ext cx="5588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207944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20"/>
          <p:cNvSpPr txBox="1"/>
          <p:nvPr/>
        </p:nvSpPr>
        <p:spPr>
          <a:xfrm>
            <a:off x="7827531" y="561477"/>
            <a:ext cx="10460469" cy="1329595"/>
          </a:xfrm>
          <a:prstGeom prst="rect">
            <a:avLst/>
          </a:prstGeom>
          <a:solidFill>
            <a:srgbClr val="90413F">
              <a:alpha val="53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7200" b="1" dirty="0" smtClean="0">
                <a:solidFill>
                  <a:srgbClr val="0B1E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Cont.</a:t>
            </a:r>
            <a:endParaRPr sz="7200" b="1" dirty="0">
              <a:solidFill>
                <a:srgbClr val="0B1E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" name="Picture 50" descr="m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081" y="3729788"/>
            <a:ext cx="9113920" cy="45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93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"/>
          <p:cNvSpPr txBox="1"/>
          <p:nvPr/>
        </p:nvSpPr>
        <p:spPr>
          <a:xfrm>
            <a:off x="0" y="344742"/>
            <a:ext cx="15557326" cy="1384995"/>
          </a:xfrm>
          <a:prstGeom prst="rect">
            <a:avLst/>
          </a:prstGeom>
          <a:solidFill>
            <a:srgbClr val="9BC683">
              <a:alpha val="28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dirty="0"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Picture 3" descr="property-listing-for-online-r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562" y="2695073"/>
            <a:ext cx="8993438" cy="4796500"/>
          </a:xfrm>
          <a:prstGeom prst="rect">
            <a:avLst/>
          </a:prstGeom>
        </p:spPr>
      </p:pic>
      <p:sp>
        <p:nvSpPr>
          <p:cNvPr id="5" name="Google Shape;887;p20"/>
          <p:cNvSpPr txBox="1"/>
          <p:nvPr/>
        </p:nvSpPr>
        <p:spPr>
          <a:xfrm>
            <a:off x="0" y="2213431"/>
            <a:ext cx="9062156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sz="3600" b="1" dirty="0" smtClean="0">
                <a:solidFill>
                  <a:srgbClr val="364B24"/>
                </a:solidFill>
                <a:latin typeface="Arial" pitchFamily="34" charset="0"/>
                <a:cs typeface="Arial" pitchFamily="34" charset="0"/>
              </a:rPr>
              <a:t>Feature Application: 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a real estate platform can vary, but common features include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1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Advanced Search Filters: 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Users can refine property searches based on criteria like location, price range, number of bedrooms, amenities, etc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1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Property Listings: 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Detailed property listings with high-quality images, floor plans, and descriptions to provide a comprehensive view of the </a:t>
            </a:r>
            <a:r>
              <a:rPr lang="en-US" sz="31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property.</a:t>
            </a:r>
            <a:endParaRPr lang="en-US" sz="31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56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"/>
          <p:cNvSpPr txBox="1"/>
          <p:nvPr/>
        </p:nvSpPr>
        <p:spPr>
          <a:xfrm>
            <a:off x="0" y="344742"/>
            <a:ext cx="15557326" cy="1384995"/>
          </a:xfrm>
          <a:prstGeom prst="rect">
            <a:avLst/>
          </a:prstGeom>
          <a:solidFill>
            <a:srgbClr val="9BC683">
              <a:alpha val="28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dirty="0"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Picture 3" descr="property-listing-for-online-r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562" y="2695073"/>
            <a:ext cx="8993438" cy="4796500"/>
          </a:xfrm>
          <a:prstGeom prst="rect">
            <a:avLst/>
          </a:prstGeom>
        </p:spPr>
      </p:pic>
      <p:sp>
        <p:nvSpPr>
          <p:cNvPr id="5" name="Google Shape;887;p20"/>
          <p:cNvSpPr txBox="1"/>
          <p:nvPr/>
        </p:nvSpPr>
        <p:spPr>
          <a:xfrm>
            <a:off x="0" y="2213431"/>
            <a:ext cx="9062156" cy="828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Map Integration: </a:t>
            </a:r>
            <a:r>
              <a:rPr lang="en-US" sz="3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 map feature that allows users to visualize the location of properties and nearby </a:t>
            </a:r>
            <a:r>
              <a:rPr lang="en-US" sz="3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amenities.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 Accounts: </a:t>
            </a:r>
            <a:r>
              <a:rPr lang="en-US" sz="3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Users can create accounts to save favorite properties, track their search history, and receive notifications about new listings or changes in property </a:t>
            </a:r>
            <a:r>
              <a:rPr lang="en-US" sz="3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status.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Communication Tools: </a:t>
            </a:r>
            <a:r>
              <a:rPr lang="en-US" sz="3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Messaging systems or contact forms that facilitate communication between buyers/renters and property owners/agents.</a:t>
            </a:r>
            <a:endParaRPr lang="en-US" sz="300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9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56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"/>
          <p:cNvSpPr txBox="1"/>
          <p:nvPr/>
        </p:nvSpPr>
        <p:spPr>
          <a:xfrm>
            <a:off x="0" y="344742"/>
            <a:ext cx="15557326" cy="1384995"/>
          </a:xfrm>
          <a:prstGeom prst="rect">
            <a:avLst/>
          </a:prstGeom>
          <a:solidFill>
            <a:srgbClr val="9BC683">
              <a:alpha val="28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aleway Black"/>
                <a:sym typeface="Raleway Black"/>
              </a:rPr>
              <a:t>Introduction Cont.</a:t>
            </a:r>
            <a:endParaRPr dirty="0"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Picture 3" descr="property-listing-for-online-r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562" y="2695073"/>
            <a:ext cx="8993438" cy="4796500"/>
          </a:xfrm>
          <a:prstGeom prst="rect">
            <a:avLst/>
          </a:prstGeom>
        </p:spPr>
      </p:pic>
      <p:sp>
        <p:nvSpPr>
          <p:cNvPr id="5" name="Google Shape;887;p20"/>
          <p:cNvSpPr txBox="1"/>
          <p:nvPr/>
        </p:nvSpPr>
        <p:spPr>
          <a:xfrm>
            <a:off x="0" y="2213431"/>
            <a:ext cx="9062156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Virtual Tours: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Some platforms incorporate virtual tours or 360-degree views to give users a more immersive experience of the property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Reviews and Ratings: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Users may have the ability to leave reviews and ratings for properties or real estate agents, contributing to a transparent and trustworthy platform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Mobile Accessibility: </a:t>
            </a:r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 responsive and user-friendly mobile app or website to ensure accessibility across various devices</a:t>
            </a:r>
            <a:endParaRPr lang="en-US" sz="29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56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7"/>
          <p:cNvSpPr txBox="1"/>
          <p:nvPr/>
        </p:nvSpPr>
        <p:spPr>
          <a:xfrm>
            <a:off x="2467997" y="717343"/>
            <a:ext cx="12804900" cy="1292662"/>
          </a:xfrm>
          <a:prstGeom prst="rect">
            <a:avLst/>
          </a:prstGeom>
          <a:solidFill>
            <a:srgbClr val="6167A9">
              <a:alpha val="25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0" dirty="0">
                <a:solidFill>
                  <a:srgbClr val="351B6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lack"/>
                <a:ea typeface="Raleway Black"/>
                <a:cs typeface="Raleway Black"/>
                <a:sym typeface="Raleway Black"/>
              </a:rPr>
              <a:t>Conclusion</a:t>
            </a:r>
            <a:endParaRPr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4" name="Google Shape;714;p17"/>
          <p:cNvSpPr txBox="1"/>
          <p:nvPr/>
        </p:nvSpPr>
        <p:spPr>
          <a:xfrm>
            <a:off x="4391554" y="3404508"/>
            <a:ext cx="14141565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schemeClr val="bg1"/>
                </a:solidFill>
              </a:rPr>
              <a:t>Hard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schemeClr val="bg1"/>
                </a:solidFill>
              </a:rPr>
              <a:t>Guidance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schemeClr val="bg1"/>
                </a:solidFill>
              </a:rPr>
              <a:t>Hope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schemeClr val="bg1"/>
                </a:solidFill>
              </a:rPr>
              <a:t>Patience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sz="4000" b="1" dirty="0">
              <a:solidFill>
                <a:schemeClr val="bg1"/>
              </a:solidFill>
            </a:endParaRPr>
          </a:p>
        </p:txBody>
      </p:sp>
      <p:grpSp>
        <p:nvGrpSpPr>
          <p:cNvPr id="715" name="Google Shape;715;p17"/>
          <p:cNvGrpSpPr/>
          <p:nvPr/>
        </p:nvGrpSpPr>
        <p:grpSpPr>
          <a:xfrm>
            <a:off x="14508391" y="-1376887"/>
            <a:ext cx="8379134" cy="10121522"/>
            <a:chOff x="0" y="1122439"/>
            <a:chExt cx="11172177" cy="13495363"/>
          </a:xfrm>
          <a:scene3d>
            <a:camera prst="orthographicFront"/>
            <a:lightRig rig="freezing" dir="t"/>
          </a:scene3d>
        </p:grpSpPr>
        <p:sp>
          <p:nvSpPr>
            <p:cNvPr id="716" name="Google Shape;716;p17"/>
            <p:cNvSpPr txBox="1"/>
            <p:nvPr/>
          </p:nvSpPr>
          <p:spPr>
            <a:xfrm>
              <a:off x="5533882" y="12816681"/>
              <a:ext cx="2297083" cy="1592296"/>
            </a:xfrm>
            <a:prstGeom prst="rect">
              <a:avLst/>
            </a:prstGeom>
            <a:noFill/>
            <a:ln>
              <a:noFill/>
            </a:ln>
            <a:sp3d prstMaterial="matte"/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55777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 txBox="1"/>
            <p:nvPr/>
          </p:nvSpPr>
          <p:spPr>
            <a:xfrm>
              <a:off x="8875094" y="12816681"/>
              <a:ext cx="2297083" cy="1592296"/>
            </a:xfrm>
            <a:prstGeom prst="rect">
              <a:avLst/>
            </a:prstGeom>
            <a:noFill/>
            <a:ln>
              <a:noFill/>
            </a:ln>
            <a:sp3d prstMaterial="matte"/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55777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 txBox="1"/>
            <p:nvPr/>
          </p:nvSpPr>
          <p:spPr>
            <a:xfrm>
              <a:off x="7204489" y="9893120"/>
              <a:ext cx="2297083" cy="1592296"/>
            </a:xfrm>
            <a:prstGeom prst="rect">
              <a:avLst/>
            </a:prstGeom>
            <a:noFill/>
            <a:ln>
              <a:noFill/>
            </a:ln>
            <a:sp3d prstMaterial="matte"/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55777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 txBox="1"/>
            <p:nvPr/>
          </p:nvSpPr>
          <p:spPr>
            <a:xfrm>
              <a:off x="5533882" y="6969560"/>
              <a:ext cx="2297083" cy="1592296"/>
            </a:xfrm>
            <a:prstGeom prst="rect">
              <a:avLst/>
            </a:prstGeom>
            <a:noFill/>
            <a:ln>
              <a:noFill/>
            </a:ln>
            <a:sp3d prstMaterial="matte"/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55777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0" name="Google Shape;720;p17"/>
            <p:cNvGrpSpPr/>
            <p:nvPr/>
          </p:nvGrpSpPr>
          <p:grpSpPr>
            <a:xfrm>
              <a:off x="3341212" y="2923560"/>
              <a:ext cx="3341212" cy="2923560"/>
              <a:chOff x="0" y="0"/>
              <a:chExt cx="812800" cy="711200"/>
            </a:xfrm>
          </p:grpSpPr>
          <p:sp>
            <p:nvSpPr>
              <p:cNvPr id="721" name="Google Shape;721;p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1D2"/>
              </a:solidFill>
              <a:ln>
                <a:noFill/>
              </a:ln>
              <a:sp3d prstMaterial="matte"/>
            </p:spPr>
          </p:sp>
          <p:sp>
            <p:nvSpPr>
              <p:cNvPr id="722" name="Google Shape;722;p17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  <a:noFill/>
              <a:ln>
                <a:noFill/>
              </a:ln>
              <a:sp3d prstMaterial="matte"/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55777"/>
                  </a:lnSpc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3" name="Google Shape;723;p17"/>
            <p:cNvSpPr txBox="1"/>
            <p:nvPr/>
          </p:nvSpPr>
          <p:spPr>
            <a:xfrm>
              <a:off x="2192669" y="1122439"/>
              <a:ext cx="2297083" cy="1592296"/>
            </a:xfrm>
            <a:prstGeom prst="rect">
              <a:avLst/>
            </a:prstGeom>
            <a:noFill/>
            <a:ln>
              <a:noFill/>
            </a:ln>
            <a:sp3d prstMaterial="matte"/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55777"/>
                </a:lnSpc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rot="10800000">
              <a:off x="3341212" y="11694242"/>
              <a:ext cx="3341212" cy="2923560"/>
              <a:chOff x="0" y="0"/>
              <a:chExt cx="812800" cy="711200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1D2"/>
              </a:solidFill>
              <a:ln>
                <a:noFill/>
              </a:ln>
              <a:sp3d prstMaterial="matte"/>
            </p:spPr>
          </p:sp>
          <p:sp>
            <p:nvSpPr>
              <p:cNvPr id="726" name="Google Shape;726;p17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  <a:noFill/>
              <a:ln>
                <a:noFill/>
              </a:ln>
              <a:sp3d prstMaterial="matte"/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55777"/>
                  </a:lnSpc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7" name="Google Shape;727;p17"/>
            <p:cNvGrpSpPr/>
            <p:nvPr/>
          </p:nvGrpSpPr>
          <p:grpSpPr>
            <a:xfrm>
              <a:off x="1670606" y="5847121"/>
              <a:ext cx="3341212" cy="2923560"/>
              <a:chOff x="0" y="0"/>
              <a:chExt cx="812800" cy="711200"/>
            </a:xfrm>
          </p:grpSpPr>
          <p:sp>
            <p:nvSpPr>
              <p:cNvPr id="728" name="Google Shape;728;p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1D2"/>
              </a:solidFill>
              <a:ln>
                <a:noFill/>
              </a:ln>
              <a:sp3d prstMaterial="matte"/>
            </p:spPr>
          </p:sp>
          <p:sp>
            <p:nvSpPr>
              <p:cNvPr id="729" name="Google Shape;729;p17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  <a:noFill/>
              <a:ln>
                <a:noFill/>
              </a:ln>
              <a:sp3d prstMaterial="matte"/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55777"/>
                  </a:lnSpc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0" name="Google Shape;730;p17"/>
            <p:cNvGrpSpPr/>
            <p:nvPr/>
          </p:nvGrpSpPr>
          <p:grpSpPr>
            <a:xfrm rot="10800000">
              <a:off x="1670606" y="8770681"/>
              <a:ext cx="3341212" cy="2923560"/>
              <a:chOff x="0" y="0"/>
              <a:chExt cx="812800" cy="711200"/>
            </a:xfrm>
          </p:grpSpPr>
          <p:sp>
            <p:nvSpPr>
              <p:cNvPr id="731" name="Google Shape;731;p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2E60"/>
              </a:solidFill>
              <a:ln>
                <a:noFill/>
              </a:ln>
              <a:sp3d prstMaterial="matte"/>
            </p:spPr>
          </p:sp>
          <p:sp>
            <p:nvSpPr>
              <p:cNvPr id="732" name="Google Shape;732;p17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  <a:noFill/>
              <a:ln>
                <a:noFill/>
              </a:ln>
              <a:sp3d prstMaterial="matte"/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55777"/>
                  </a:lnSpc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3" name="Google Shape;733;p17"/>
            <p:cNvGrpSpPr/>
            <p:nvPr/>
          </p:nvGrpSpPr>
          <p:grpSpPr>
            <a:xfrm>
              <a:off x="0" y="2923560"/>
              <a:ext cx="3341212" cy="2923560"/>
              <a:chOff x="0" y="0"/>
              <a:chExt cx="812800" cy="711200"/>
            </a:xfrm>
          </p:grpSpPr>
          <p:sp>
            <p:nvSpPr>
              <p:cNvPr id="734" name="Google Shape;734;p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2E60"/>
              </a:solidFill>
              <a:ln>
                <a:noFill/>
              </a:ln>
              <a:sp3d prstMaterial="matte"/>
            </p:spPr>
          </p:sp>
          <p:sp>
            <p:nvSpPr>
              <p:cNvPr id="735" name="Google Shape;735;p17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  <a:noFill/>
              <a:ln>
                <a:noFill/>
              </a:ln>
              <a:sp3d prstMaterial="matte"/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55777"/>
                  </a:lnSpc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" name="Google Shape;714;p17"/>
          <p:cNvSpPr txBox="1"/>
          <p:nvPr/>
        </p:nvSpPr>
        <p:spPr>
          <a:xfrm>
            <a:off x="4391554" y="4444281"/>
            <a:ext cx="161776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32" name="Google Shape;714;p17"/>
          <p:cNvSpPr txBox="1"/>
          <p:nvPr/>
        </p:nvSpPr>
        <p:spPr>
          <a:xfrm>
            <a:off x="4307510" y="5620500"/>
            <a:ext cx="130983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AFCE66D-1D09-6C1B-E96E-7E35F472C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73" y="2010005"/>
            <a:ext cx="4316983" cy="822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893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FB5EFB7-4CE9-1807-D0F7-81401E68A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9085" y="2142212"/>
            <a:ext cx="11509829" cy="6002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A41AC481-B287-49C8-90EF-C669597D2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1364</TotalTime>
  <Words>853</Words>
  <Application>Microsoft Office PowerPoint</Application>
  <PresentationFormat>Custom</PresentationFormat>
  <Paragraphs>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Tw Cen MT</vt:lpstr>
      <vt:lpstr>Raleway Black</vt:lpstr>
      <vt:lpstr>Wingdings</vt:lpstr>
      <vt:lpstr>Calibri</vt:lpstr>
      <vt:lpstr>Wingdings 3</vt:lpstr>
      <vt:lpstr>Tw Cen MT Condensed</vt:lpstr>
      <vt:lpstr>Integral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FUTURE TECHNOLOGIES</dc:creator>
  <cp:lastModifiedBy>user</cp:lastModifiedBy>
  <cp:revision>45</cp:revision>
  <dcterms:modified xsi:type="dcterms:W3CDTF">2023-12-01T16:38:43Z</dcterms:modified>
</cp:coreProperties>
</file>